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52D4A"/>
          </a:solidFill>
          <a:ln w="12700">
            <a:solidFill>
              <a:srgbClr val="152D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PAT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Pocket Analyst Tool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Bridgewater Associates  ·  INTERRUPT26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611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McManus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Team Lead, Applied AI, Bridgewater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 Wright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Technical Lead, Bridgewater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343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</a:t>
            </a:r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Investment Lead, Bridgewater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at Bridgewater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approaching AI at Bridgewater both as investors and practitioners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39319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417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11480" y="2075688"/>
            <a:ext cx="393192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945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deep understanding of how AI will impact markets and economies.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understanding of AI's impacts to improve existing systems and create new alphas.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39319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41732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2075688"/>
            <a:ext cx="3931920" cy="26517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1945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AI across our alpha process to expand what we can systemize, building toward AIA — a full-scale artificial investor.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Retool — and ultimately rebuild — the Factory.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Bridgewater's AI Journey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Systemization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1980 Bond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291840" cy="2834640"/>
          </a:xfrm>
          <a:prstGeom prst="rect">
            <a:avLst/>
          </a:prstGeom>
          <a:solidFill>
            <a:srgbClr val="FFF176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47088"/>
            <a:ext cx="307238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Bond yield &gt; threshold → long bond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Short-term yield Germany/Long &gt; 1.1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Otherwise &lt; 0.8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T-Bill yield − Fed rate &gt; 2.5%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Annual Δ real US bond yield + 6mo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US bond yield + yield curve 6mo avg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  Real bond yield US−Japan 6mo vs 1mo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330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Real bond yield US−Germany 6mo vs 1mo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977640" y="28346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System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0292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Process 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737360"/>
            <a:ext cx="3200400" cy="28346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2331720"/>
            <a:ext cx="1920240" cy="164592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3317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1792224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Learning Process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715000" y="1737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635240" y="2377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58952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715000" y="4343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77640" y="34747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023360" y="2377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Pat, the Pocket Analyst Tool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one of the things that every Bridgewater investor must do excellently — performing analytical investigations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417320"/>
            <a:ext cx="160020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087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0624" y="228600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38912" y="294436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time-series, unstructured research, and live positions — nothing left out.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57400" y="1417320"/>
            <a:ext cx="160020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15087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130552" y="228600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ALL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294436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instrument our human analysts reach for is available to the Pocket Analyst.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67328" y="1417320"/>
            <a:ext cx="160020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24528" y="15087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24528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40480" y="228600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DIAG-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NOSABLE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58768" y="294436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can step through exactly what the analysis produced — fully inspectable.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77256" y="1417320"/>
            <a:ext cx="160020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34456" y="15087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34456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0408" y="228600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KNOWS OUR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568696" y="294436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updated with Bridgewater's thinking, frameworks, and role-specific context.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87184" y="1417320"/>
            <a:ext cx="1600200" cy="33832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44384" y="150876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44384" y="15087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260336" y="2286000"/>
            <a:ext cx="14538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278624" y="2944368"/>
            <a:ext cx="1417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improves with every use — expert investor feedback drives the flywheel.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Organizational Takeaways from Pocket Analyst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07008"/>
            <a:ext cx="8229600" cy="1078992"/>
          </a:xfrm>
          <a:prstGeom prst="rect">
            <a:avLst/>
          </a:prstGeom>
          <a:solidFill>
            <a:srgbClr val="162D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08176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081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298448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 Willing to Shake Itself Up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00784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applied AI team incubated as an internal startup can move fast and leverage the whole firm.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8229600" cy="1078992"/>
          </a:xfrm>
          <a:prstGeom prst="rect">
            <a:avLst/>
          </a:prstGeom>
          <a:solidFill>
            <a:srgbClr val="162D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670048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7004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560320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Multi-Archetype Teams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296265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Investors, engineers, and scientists at the same table — building alongside each other.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8229600" cy="1078992"/>
          </a:xfrm>
          <a:prstGeom prst="rect">
            <a:avLst/>
          </a:prstGeom>
          <a:solidFill>
            <a:srgbClr val="162D47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931920"/>
            <a:ext cx="640080" cy="6400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3822192"/>
            <a:ext cx="7040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Expert Users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expert investors generating signal daily — a powerful continuous-learning flywheel.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41732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10512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Product Architecture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in action — security model, 10-stage pipeline, and learning flywheel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PAT's Security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Per-user security enforced at the system-prompt level — same model, different access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28600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PAT's System Prompt +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1691640"/>
            <a:ext cx="27432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Context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0" y="1691640"/>
            <a:ext cx="2743200" cy="8229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691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Context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45920" y="2788920"/>
            <a:ext cx="274320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788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Tool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0" y="2788920"/>
            <a:ext cx="2743200" cy="82296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27889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Tool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45920" y="3794760"/>
            <a:ext cx="2743200" cy="822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3794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Non-Secure User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3794760"/>
            <a:ext cx="2743200" cy="822960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37947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User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990088" y="2788920"/>
            <a:ext cx="54864" cy="1005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3368" y="2788920"/>
            <a:ext cx="54864" cy="1005840"/>
          </a:xfrm>
          <a:prstGeom prst="rect">
            <a:avLst/>
          </a:prstGeom>
          <a:solidFill>
            <a:srgbClr val="4B5563"/>
          </a:solidFill>
          <a:ln w="12700">
            <a:solidFill>
              <a:srgbClr val="4B556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6118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Pipeline — 10 Stages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natural-language prompt to interactive, self-correcting research report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" y="132588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463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Prompt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57400" y="132588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463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Context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67328" y="132588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463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58768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Search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77256" y="132588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34456" y="1463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34456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568696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Search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87184" y="132588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146304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44384" y="1463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78624" y="224028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Plan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310896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324612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38912" y="40233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Plan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310896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324612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148840" y="40233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67328" y="310896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24528" y="324612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24528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858768" y="40233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Review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477256" y="3108960"/>
            <a:ext cx="1600200" cy="160020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34456" y="3246120"/>
            <a:ext cx="685800" cy="68580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34456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568696" y="40233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187184" y="3108960"/>
            <a:ext cx="1600200" cy="1600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44384" y="32461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44384" y="32461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278624" y="4023360"/>
            <a:ext cx="1417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Flywheel — Teach PAT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from hundreds of expert users every day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926080" y="1188720"/>
            <a:ext cx="3291840" cy="3291840"/>
          </a:xfrm>
          <a:prstGeom prst="ellipse">
            <a:avLst/>
          </a:prstGeom>
          <a:solidFill>
            <a:srgbClr val="EFF6FF"/>
          </a:solidFill>
          <a:ln w="3175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828800"/>
            <a:ext cx="2011680" cy="2011680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66160" y="18288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" y="164592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Investor submits a prompt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" y="24688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PAT generates analysis &amp; interactive report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" y="329184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Investor clicks "Teach PAT" — provides feedback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Correction stored in shared firm memory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Future queries automatically incorporate the learning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 improves PAT for the entire firm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74520"/>
            <a:ext cx="9144000" cy="1417320"/>
          </a:xfrm>
          <a:prstGeom prst="rect">
            <a:avLst/>
          </a:prstGeom>
          <a:solidFill>
            <a:srgbClr val="2563EB">
              <a:alpha val="20000"/>
            </a:srgbClr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10512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Overview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Agent, Coding Agent, and the separation that makes both excellent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 Chat vs. Coding Agents?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50876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UX stays non-technical for investors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22585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polluted context between concerns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300837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evals → better, specialized agents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58184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87552" y="375818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is hyper-specialized for data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37760" y="960120"/>
            <a:ext cx="3794760" cy="3794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109728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74920" y="1636776"/>
            <a:ext cx="73152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16002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(domain) context is the killer feature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57800" y="205740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write context alongside developers — domain knowledge baked into the prompt.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74920" y="3099816"/>
            <a:ext cx="73152" cy="365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30632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the Chat Agent how to behave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52044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human feedback shapes agent behavior via the learning flywheel.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deterministic code generation — treating coding agents like a compiler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12618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581912"/>
            <a:ext cx="219456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12618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Codegen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581912"/>
            <a:ext cx="301752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97880" y="126187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Loop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97880" y="1581912"/>
            <a:ext cx="292608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28800"/>
            <a:ext cx="1920240" cy="731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Plan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231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360" y="1828800"/>
            <a:ext cx="123444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0360" y="1828800"/>
            <a:ext cx="1234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97480" y="2743200"/>
            <a:ext cx="301752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7889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880360" y="312724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80360" y="312724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367588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36758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80360" y="4224528"/>
            <a:ext cx="2651760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80360" y="422452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32120" y="3566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989320" y="3429000"/>
            <a:ext cx="1371600" cy="731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34290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97880" y="1645920"/>
            <a:ext cx="2834640" cy="1554480"/>
          </a:xfrm>
          <a:prstGeom prst="rect">
            <a:avLst/>
          </a:prstGeom>
          <a:solidFill>
            <a:srgbClr val="F0F9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Execution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057400"/>
            <a:ext cx="2468880" cy="2743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057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Analysis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080760" y="2404872"/>
            <a:ext cx="2468880" cy="2743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2404872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Caching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080760" y="2752344"/>
            <a:ext cx="2468880" cy="27432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2752344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98080" y="3429000"/>
            <a:ext cx="12344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0" y="34290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498080" y="4114800"/>
            <a:ext cx="1234440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41148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— Speed Benchmarks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8503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vs. Claude Code (Opus 4.6) — real production measurements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Generation Time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produce code for an analysis plan?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35s → 149s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Analyst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85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4864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11s → 26s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4480560"/>
            <a:ext cx="14173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44805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faster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114800" cy="356616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4173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Execution Harness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7830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perform a small edit to the final task?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249631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mins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846320" y="30632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1.4 → ~20 mins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33832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Analyst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685032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 mins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4846320" y="4251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0.2 → 0.8 mins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132320" y="4480560"/>
            <a:ext cx="14173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448056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~15× faster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— Correctness &amp;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384048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789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 Correctness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63040" y="1572768"/>
            <a:ext cx="1645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5727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2194560"/>
            <a:ext cx="1645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1645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9456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2608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90779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enforced in agent architecture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47472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45643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output determinism in test suite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256032" cy="25603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4005072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→ much higher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4069080" cy="3840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078992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Pocket Analyst: Technical Takeaways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28032" y="173736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66420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 your agents → Specialization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285232" y="206654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has a narrow job, its own eval, and its own development lifecycle.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28032" y="274320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267004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actual user workflows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85232" y="307238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generic "powerful" agents — they underperform on real tasks.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8032" y="374904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85232" y="367588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agents on specific tasks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285232" y="4078224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sub-agents trained for precision: coding, search, validation, summarization.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8640" y="1719072"/>
            <a:ext cx="80467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7452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Thanks to Our Great Team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 Schory  ·  Paul Batterman  ·  Nilesh Patel  ·  Zain Khalid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Aqib Dar  ·  James Tyler  ·  Hayley Williamson  ·  and Many Others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337560"/>
            <a:ext cx="8046720" cy="27432"/>
          </a:xfrm>
          <a:prstGeom prst="rect">
            <a:avLst/>
          </a:prstGeom>
          <a:solidFill>
            <a:srgbClr val="2D4F73"/>
          </a:solidFill>
          <a:ln w="12700">
            <a:solidFill>
              <a:srgbClr val="2D4F7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45643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PAT, the AI Pocket Analyst Tool  ·  Bridgewater Associates  ·  INTERRUPT26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2026-08-05T06:29:31Z</dcterms:created>
  <dcterms:modified xsi:type="dcterms:W3CDTF">2026-08-05T06:29:31Z</dcterms:modified>
</cp:coreProperties>
</file>